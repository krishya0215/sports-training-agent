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88" r:id="rId5"/>
    <p:sldId id="304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9"/>
    <p:restoredTop sz="74678"/>
  </p:normalViewPr>
  <p:slideViewPr>
    <p:cSldViewPr snapToGrid="0" snapToObjects="1">
      <p:cViewPr>
        <p:scale>
          <a:sx n="99" d="100"/>
          <a:sy n="99" d="100"/>
        </p:scale>
        <p:origin x="126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98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2222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FE01C90F-35CE-B82E-AF04-D644276D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:notes">
            <a:extLst>
              <a:ext uri="{FF2B5EF4-FFF2-40B4-BE49-F238E27FC236}">
                <a16:creationId xmlns:a16="http://schemas.microsoft.com/office/drawing/2014/main" id="{9F8EE3DC-E07C-068E-FF94-32AC7A93FC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时间长了高价值信息也会过时，所以对</a:t>
            </a:r>
            <a:r>
              <a:rPr lang="zh-CN" alt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已入库的</a:t>
            </a:r>
            <a:r>
              <a:rPr lang="zh-CN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记忆做</a:t>
            </a: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zh-CN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动态老化</a:t>
            </a: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zh-CN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。强度由两项组成：左半部分是</a:t>
            </a:r>
            <a:r>
              <a:rPr lang="zh-CN" alt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指数衰减</a:t>
            </a: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——</a:t>
            </a:r>
            <a:r>
              <a:rPr lang="zh-CN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一条记忆每</a:t>
            </a:r>
          </a:p>
          <a:p>
            <a:r>
              <a:rPr lang="zh-CN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▎ 过一段时间自动降权；右半部分是</a:t>
            </a:r>
            <a:r>
              <a:rPr lang="zh-CN" alt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对数级访问加成</a:t>
            </a: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——</a:t>
            </a:r>
            <a:r>
              <a:rPr lang="zh-CN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每被检索调用一次就反向强化它。</a:t>
            </a:r>
          </a:p>
        </p:txBody>
      </p:sp>
      <p:sp>
        <p:nvSpPr>
          <p:cNvPr id="280" name="Google Shape;280;p14:notes">
            <a:extLst>
              <a:ext uri="{FF2B5EF4-FFF2-40B4-BE49-F238E27FC236}">
                <a16:creationId xmlns:a16="http://schemas.microsoft.com/office/drawing/2014/main" id="{02C01FF9-6F8A-E100-3466-E9C23360B1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5132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18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" cy="46863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记忆写入机制：4 维加权重要性评分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并非所有用户交互都值得长期保存。全部入库 → 记忆库被噪声淹没 → 重要信息反被埋掉。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8412480" cy="896112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importance = </a:t>
            </a:r>
            <a:r>
              <a:rPr lang="en-US" sz="1600" b="1" dirty="0">
                <a:solidFill>
                  <a:srgbClr val="EE9B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0.30·core_goal</a:t>
            </a:r>
            <a:r>
              <a:rPr lang="en-US" sz="16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+ </a:t>
            </a:r>
            <a:r>
              <a:rPr lang="en-US" sz="1600" b="1" dirty="0">
                <a:solidFill>
                  <a:srgbClr val="EE9B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0.30·injury_risk</a:t>
            </a:r>
            <a:r>
              <a:rPr lang="en-US" sz="16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+ </a:t>
            </a:r>
            <a:r>
              <a:rPr lang="en-US" sz="1600" dirty="0">
                <a:solidFill>
                  <a:srgbClr val="B8DD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0.20·repeat_freq</a:t>
            </a:r>
            <a:r>
              <a:rPr lang="en-US" sz="16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+ </a:t>
            </a:r>
            <a:r>
              <a:rPr lang="en-US" sz="1600" dirty="0">
                <a:solidFill>
                  <a:srgbClr val="B8DD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0.20·decision_impact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阈值过滤：importance ≥ 0.5 才写入长期记忆，否则丢弃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65960"/>
          <a:ext cx="8412480" cy="16459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维度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B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实现方式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B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高分场景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B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低分场景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core_goal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35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关键词匹配 + 事件先验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9D8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「我要减脂」、生成训练计划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「今天天气不错」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injury_risk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35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关键词 + pain/fatigue 等级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9D8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「膝盖疼」、pain ≥ 6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普通饮食记录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repeat_freq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35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近 20 条同类事件计数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9D8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同问题反复提及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第一次随口一提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decision_impact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35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event_type 预设先验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9D8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plan_created = 0.95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diet_recorded = 0.40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65760" y="37947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实测对照（threshold = 0.5）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4114800"/>
            <a:ext cx="199339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365760" y="4114800"/>
            <a:ext cx="54864" cy="7132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02920" y="413308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355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plan_created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4370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0.530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34440" y="437083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写入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487168" y="4114800"/>
            <a:ext cx="199339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2487168" y="4114800"/>
            <a:ext cx="54864" cy="7132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2624328" y="413308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355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training_completed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624328" y="4370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0.545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355848" y="437083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写入（高疼痛）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608576" y="4114800"/>
            <a:ext cx="199339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4608576" y="4114800"/>
            <a:ext cx="54864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4745736" y="413308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355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diet_recorded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45736" y="4370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0.270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477256" y="437083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过滤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729984" y="4114800"/>
            <a:ext cx="199339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6729984" y="4114800"/>
            <a:ext cx="54864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6867144" y="413308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355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qa_interaction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867144" y="4370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0.230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598664" y="437083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过滤（闲聊）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B6F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实现：backend/memory/memory_importance.py — class ImportanceScorer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" cy="46863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记忆遗忘机制：时间衰减 + 访问加成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入库后的记忆也需"动态老化"：长时间不被使用 → 自动淡化；常用记忆 → 反向强化保留。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77724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r>
              <a:rPr lang="en-US" altLang="zh-CN" dirty="0" err="1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λ</a:t>
            </a:r>
            <a:r>
              <a:rPr lang="en-US" altLang="zh-CN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= 0.01/</a:t>
            </a:r>
            <a:r>
              <a:rPr lang="en-US" altLang="zh-CN" dirty="0" err="1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天</a:t>
            </a:r>
            <a:r>
              <a:rPr lang="en-US" altLang="zh-CN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·   </a:t>
            </a:r>
            <a:r>
              <a:rPr lang="en-US" altLang="zh-CN" dirty="0" err="1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γ</a:t>
            </a:r>
            <a:r>
              <a:rPr lang="en-US" altLang="zh-CN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= 0.05   ·   </a:t>
            </a:r>
            <a:r>
              <a:rPr lang="en-US" altLang="zh-CN" dirty="0" err="1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归档阈值</a:t>
            </a:r>
            <a:r>
              <a:rPr lang="en-US" altLang="zh-CN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= 0.1   ·   </a:t>
            </a:r>
            <a:r>
              <a:rPr lang="en-US" altLang="zh-CN" dirty="0" err="1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</a:t>
            </a:r>
            <a:r>
              <a:rPr lang="en-US" altLang="zh-CN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strength &lt; 0.1 → </a:t>
            </a:r>
            <a:r>
              <a:rPr lang="en-US" altLang="zh-CN" dirty="0" err="1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软归档（is_active</a:t>
            </a:r>
            <a:r>
              <a:rPr lang="en-US" altLang="zh-CN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= 0）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strength(t) = </a:t>
            </a:r>
            <a:r>
              <a:rPr lang="en-US" sz="1600" b="1" dirty="0">
                <a:solidFill>
                  <a:srgbClr val="EE9B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importance · exp(−λ·Δt)</a:t>
            </a:r>
            <a:r>
              <a:rPr lang="en-US" sz="16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+ </a:t>
            </a:r>
            <a:r>
              <a:rPr lang="en-US" sz="1600" b="1" dirty="0">
                <a:solidFill>
                  <a:srgbClr val="B8DD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γ · log(1 + access_count)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0" y="107899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B8DD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公式 (4-2)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衰减行为示例（initial importance = 0.85）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86000"/>
          <a:ext cx="5212080" cy="181051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距上次访问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B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访问次数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B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strength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B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状态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D35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 天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0.82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9D8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活跃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D35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90 天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0.34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9D8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活跃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D35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365 天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0.02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✗ 归档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D35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365 天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10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0.14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9D8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活跃（被访问救回）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D35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365 天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D35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50（高频）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0.22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9D8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活跃（强化）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760720" y="1965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归档流程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60720" y="2331720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356B7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5897880" y="2468880"/>
            <a:ext cx="137160" cy="137160"/>
          </a:xfrm>
          <a:prstGeom prst="ellipse">
            <a:avLst/>
          </a:prstGeom>
          <a:solidFill>
            <a:srgbClr val="356B72"/>
          </a:solidFill>
          <a:ln w="12700">
            <a:solidFill>
              <a:srgbClr val="356B7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612648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周期扫描全部活跃事实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269480" y="2743200"/>
            <a:ext cx="0" cy="137160"/>
          </a:xfrm>
          <a:prstGeom prst="line">
            <a:avLst/>
          </a:prstGeom>
          <a:noFill/>
          <a:ln w="12700">
            <a:solidFill>
              <a:srgbClr val="5B6F8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5760720" y="2880360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356B7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5897880" y="3017520"/>
            <a:ext cx="137160" cy="137160"/>
          </a:xfrm>
          <a:prstGeom prst="ellipse">
            <a:avLst/>
          </a:prstGeom>
          <a:solidFill>
            <a:srgbClr val="356B72"/>
          </a:solidFill>
          <a:ln w="12700">
            <a:solidFill>
              <a:srgbClr val="356B7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6126480" y="2880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 strength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269480" y="3291840"/>
            <a:ext cx="0" cy="137160"/>
          </a:xfrm>
          <a:prstGeom prst="line">
            <a:avLst/>
          </a:prstGeom>
          <a:noFill/>
          <a:ln w="12700">
            <a:solidFill>
              <a:srgbClr val="5B6F8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5760720" y="3429000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5897880" y="3566160"/>
            <a:ext cx="137160" cy="137160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6126480" y="3429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strength &lt; 0.1 ？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69480" y="3840480"/>
            <a:ext cx="0" cy="137160"/>
          </a:xfrm>
          <a:prstGeom prst="line">
            <a:avLst/>
          </a:prstGeom>
          <a:noFill/>
          <a:ln w="12700">
            <a:solidFill>
              <a:srgbClr val="5B6F8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5760720" y="3977640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5897880" y="4114800"/>
            <a:ext cx="137160" cy="1371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6126480" y="3977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is_active = 0 → 软归档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269480" y="4389120"/>
            <a:ext cx="0" cy="137160"/>
          </a:xfrm>
          <a:prstGeom prst="line">
            <a:avLst/>
          </a:prstGeom>
          <a:noFill/>
          <a:ln w="12700">
            <a:solidFill>
              <a:srgbClr val="5B6F8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5760720" y="4526280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5B6F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7"/>
          <p:cNvSpPr/>
          <p:nvPr/>
        </p:nvSpPr>
        <p:spPr>
          <a:xfrm>
            <a:off x="5897880" y="4663440"/>
            <a:ext cx="137160" cy="137160"/>
          </a:xfrm>
          <a:prstGeom prst="ellipse">
            <a:avLst/>
          </a:prstGeom>
          <a:solidFill>
            <a:srgbClr val="5B6F80"/>
          </a:solidFill>
          <a:ln w="12700">
            <a:solidFill>
              <a:srgbClr val="5B6F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6126480" y="4526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SQL 自动过滤 + 可审计追溯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B6F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实现：backend/memory/memory_forgetting.py — class ForgettingService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" cy="46863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三阶段闭环：写入 → 遗忘 → 读取（反向强化）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三个机制相互作用，形成长期运行下记忆库自洽稳定的闭环。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05156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743200" y="1051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用户交互（事件流）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572768"/>
            <a:ext cx="0" cy="228600"/>
          </a:xfrm>
          <a:prstGeom prst="line">
            <a:avLst/>
          </a:prstGeom>
          <a:noFill/>
          <a:ln w="19050">
            <a:solidFill>
              <a:srgbClr val="5B6F8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2743200" cy="73152"/>
          </a:xfrm>
          <a:prstGeom prst="rect">
            <a:avLst/>
          </a:prstGeom>
          <a:solidFill>
            <a:srgbClr val="356B72"/>
          </a:solidFill>
          <a:ln w="12700">
            <a:solidFill>
              <a:srgbClr val="356B7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6B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写入阶段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355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ImportanceScorer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70048"/>
            <a:ext cx="2377440" cy="0"/>
          </a:xfrm>
          <a:prstGeom prst="line">
            <a:avLst/>
          </a:prstGeom>
          <a:noFill/>
          <a:ln w="6350">
            <a:solidFill>
              <a:srgbClr val="D5DC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维加权评分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importance ≥ 0.5 入库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低分事件被过滤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87452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200400" y="1874520"/>
            <a:ext cx="2743200" cy="7315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38328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9B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维护阶段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355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ForgettingService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670048"/>
            <a:ext cx="2377440" cy="0"/>
          </a:xfrm>
          <a:prstGeom prst="line">
            <a:avLst/>
          </a:prstGeom>
          <a:noFill/>
          <a:ln w="6350">
            <a:solidFill>
              <a:srgbClr val="D5DC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383280" y="274320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exp(−λΔt) + γlog(1+n)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strength &lt; 0.1 软归档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长期未用自动淡化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187452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035040" y="1874520"/>
            <a:ext cx="27432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21792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读取阶段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355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MemoryService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670048"/>
            <a:ext cx="2377440" cy="0"/>
          </a:xfrm>
          <a:prstGeom prst="line">
            <a:avLst/>
          </a:prstGeom>
          <a:noFill/>
          <a:ln w="6350">
            <a:solidFill>
              <a:srgbClr val="D5DC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217920" y="274320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build_memory_prompt 注入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access_count + 1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常用记忆反向强化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08960" y="2971800"/>
            <a:ext cx="91440" cy="0"/>
          </a:xfrm>
          <a:prstGeom prst="line">
            <a:avLst/>
          </a:prstGeom>
          <a:noFill/>
          <a:ln w="19050">
            <a:solidFill>
              <a:srgbClr val="5B6F8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943600" y="2971800"/>
            <a:ext cx="91440" cy="0"/>
          </a:xfrm>
          <a:prstGeom prst="line">
            <a:avLst/>
          </a:prstGeom>
          <a:noFill/>
          <a:ln w="19050">
            <a:solidFill>
              <a:srgbClr val="5B6F8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406640" y="4251960"/>
            <a:ext cx="0" cy="274320"/>
          </a:xfrm>
          <a:prstGeom prst="line">
            <a:avLst/>
          </a:prstGeom>
          <a:noFill/>
          <a:ln w="19050">
            <a:solidFill>
              <a:srgbClr val="2A9D8F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737360" y="4526280"/>
            <a:ext cx="5669280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737360" y="4251960"/>
            <a:ext cx="0" cy="274320"/>
          </a:xfrm>
          <a:prstGeom prst="line">
            <a:avLst/>
          </a:prstGeom>
          <a:noFill/>
          <a:ln w="19050">
            <a:solidFill>
              <a:srgbClr val="2A9D8F"/>
            </a:solidFill>
            <a:prstDash val="dash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657600" y="4370832"/>
            <a:ext cx="1828800" cy="274320"/>
          </a:xfrm>
          <a:prstGeom prst="rect">
            <a:avLst/>
          </a:prstGeom>
          <a:solidFill>
            <a:srgbClr val="FAF7F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A9D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反向强化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690872"/>
            <a:ext cx="8412480" cy="36576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65760" y="46908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高价值信息留下  ·  低频信息淡化  ·  被反复使用的反向强化  →  长期运行下记忆库自洽稳定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5"/>
          <p:cNvSpPr txBox="1"/>
          <p:nvPr/>
        </p:nvSpPr>
        <p:spPr>
          <a:xfrm>
            <a:off x="143226" y="1624504"/>
            <a:ext cx="870108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500" b="1" dirty="0" err="1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恳请各位老师批评指正</a:t>
            </a:r>
            <a:endParaRPr sz="1350" dirty="0"/>
          </a:p>
        </p:txBody>
      </p:sp>
      <p:sp>
        <p:nvSpPr>
          <p:cNvPr id="2" name="Freeform 10">
            <a:extLst>
              <a:ext uri="{FF2B5EF4-FFF2-40B4-BE49-F238E27FC236}">
                <a16:creationId xmlns:a16="http://schemas.microsoft.com/office/drawing/2014/main" id="{A6905716-A44D-8355-CABD-AC3168C6D963}"/>
              </a:ext>
            </a:extLst>
          </p:cNvPr>
          <p:cNvSpPr/>
          <p:nvPr/>
        </p:nvSpPr>
        <p:spPr>
          <a:xfrm>
            <a:off x="7432042" y="3967246"/>
            <a:ext cx="105056" cy="101278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sz="1350"/>
          </a:p>
        </p:txBody>
      </p:sp>
      <p:sp>
        <p:nvSpPr>
          <p:cNvPr id="3" name="Freeform 11">
            <a:extLst>
              <a:ext uri="{FF2B5EF4-FFF2-40B4-BE49-F238E27FC236}">
                <a16:creationId xmlns:a16="http://schemas.microsoft.com/office/drawing/2014/main" id="{458DAD91-E174-68C6-CF8F-041435B79958}"/>
              </a:ext>
            </a:extLst>
          </p:cNvPr>
          <p:cNvSpPr/>
          <p:nvPr/>
        </p:nvSpPr>
        <p:spPr>
          <a:xfrm>
            <a:off x="1464630" y="3967246"/>
            <a:ext cx="105056" cy="101278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sz="1350"/>
          </a:p>
        </p:txBody>
      </p:sp>
      <p:cxnSp>
        <p:nvCxnSpPr>
          <p:cNvPr id="4" name="直接连接符 18">
            <a:extLst>
              <a:ext uri="{FF2B5EF4-FFF2-40B4-BE49-F238E27FC236}">
                <a16:creationId xmlns:a16="http://schemas.microsoft.com/office/drawing/2014/main" id="{9343C921-B285-75ED-1137-854B92C598F0}"/>
              </a:ext>
            </a:extLst>
          </p:cNvPr>
          <p:cNvCxnSpPr>
            <a:cxnSpLocks/>
          </p:cNvCxnSpPr>
          <p:nvPr/>
        </p:nvCxnSpPr>
        <p:spPr>
          <a:xfrm>
            <a:off x="1506606" y="4020533"/>
            <a:ext cx="5974330" cy="0"/>
          </a:xfrm>
          <a:prstGeom prst="line">
            <a:avLst/>
          </a:prstGeom>
          <a:ln w="12700">
            <a:solidFill>
              <a:srgbClr val="121B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3EB98BEE-A466-0E11-AC13-900DB7716E34}"/>
              </a:ext>
            </a:extLst>
          </p:cNvPr>
          <p:cNvSpPr txBox="1"/>
          <p:nvPr/>
        </p:nvSpPr>
        <p:spPr>
          <a:xfrm>
            <a:off x="2599610" y="3587148"/>
            <a:ext cx="160782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1500" b="1" dirty="0">
                <a:solidFill>
                  <a:srgbClr val="121B2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汇报人</a:t>
            </a:r>
            <a:r>
              <a:rPr lang="en-US" sz="1500" b="1" dirty="0">
                <a:solidFill>
                  <a:srgbClr val="121B2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： </a:t>
            </a:r>
            <a:r>
              <a:rPr lang="en-US" sz="1500" b="1" dirty="0" err="1">
                <a:solidFill>
                  <a:srgbClr val="121B2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刘冰彦</a:t>
            </a:r>
            <a:endParaRPr sz="1500" b="1" dirty="0">
              <a:solidFill>
                <a:srgbClr val="121B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Google Shape;89;p13">
            <a:extLst>
              <a:ext uri="{FF2B5EF4-FFF2-40B4-BE49-F238E27FC236}">
                <a16:creationId xmlns:a16="http://schemas.microsoft.com/office/drawing/2014/main" id="{4E07AE00-1201-332C-D7DD-2EB913A9D69D}"/>
              </a:ext>
            </a:extLst>
          </p:cNvPr>
          <p:cNvSpPr txBox="1"/>
          <p:nvPr/>
        </p:nvSpPr>
        <p:spPr>
          <a:xfrm>
            <a:off x="4765164" y="3587148"/>
            <a:ext cx="188484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1500" b="1" dirty="0">
                <a:solidFill>
                  <a:srgbClr val="121B2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专业：软件工程</a:t>
            </a:r>
            <a:endParaRPr sz="1500" b="1" dirty="0">
              <a:solidFill>
                <a:srgbClr val="121B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Google Shape;90;p13">
            <a:extLst>
              <a:ext uri="{FF2B5EF4-FFF2-40B4-BE49-F238E27FC236}">
                <a16:creationId xmlns:a16="http://schemas.microsoft.com/office/drawing/2014/main" id="{95CF1EB3-15D6-2CFA-AB31-E77317A26492}"/>
              </a:ext>
            </a:extLst>
          </p:cNvPr>
          <p:cNvSpPr txBox="1"/>
          <p:nvPr/>
        </p:nvSpPr>
        <p:spPr>
          <a:xfrm>
            <a:off x="3899494" y="4304396"/>
            <a:ext cx="160782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50" b="1" dirty="0">
                <a:solidFill>
                  <a:srgbClr val="121B2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2026</a:t>
            </a:r>
            <a:r>
              <a:rPr lang="zh-CN" altLang="en-US" sz="1350" b="1" dirty="0">
                <a:solidFill>
                  <a:srgbClr val="121B2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年</a:t>
            </a:r>
            <a:r>
              <a:rPr lang="en-US" altLang="zh-CN" sz="1350" b="1" dirty="0">
                <a:solidFill>
                  <a:srgbClr val="121B2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5</a:t>
            </a:r>
            <a:r>
              <a:rPr lang="zh-CN" altLang="en-US" sz="1350" b="1" dirty="0">
                <a:solidFill>
                  <a:srgbClr val="121B2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月</a:t>
            </a:r>
            <a:endParaRPr sz="1350" b="1" dirty="0">
              <a:solidFill>
                <a:srgbClr val="121B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605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610B79BB-41CB-3820-6719-B5DEDF274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6" descr="image.png">
            <a:extLst>
              <a:ext uri="{FF2B5EF4-FFF2-40B4-BE49-F238E27FC236}">
                <a16:creationId xmlns:a16="http://schemas.microsoft.com/office/drawing/2014/main" id="{AD23E24C-66BC-3666-1AB1-82E7D00CC7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6;p26">
            <a:extLst>
              <a:ext uri="{FF2B5EF4-FFF2-40B4-BE49-F238E27FC236}">
                <a16:creationId xmlns:a16="http://schemas.microsoft.com/office/drawing/2014/main" id="{5B1F84AF-AD55-C7ED-7DA3-DB896B2BB7BD}"/>
              </a:ext>
            </a:extLst>
          </p:cNvPr>
          <p:cNvSpPr txBox="1"/>
          <p:nvPr/>
        </p:nvSpPr>
        <p:spPr>
          <a:xfrm>
            <a:off x="441198" y="279887"/>
            <a:ext cx="6531637" cy="820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100"/>
              <a:defRPr/>
            </a:pPr>
            <a:r>
              <a:rPr lang="zh-CN" altLang="en-US" sz="2363" b="1" dirty="0">
                <a:solidFill>
                  <a:srgbClr val="005088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记忆管理</a:t>
            </a:r>
            <a:r>
              <a:rPr lang="zh-CN" altLang="zh-CN" sz="2363" b="1" dirty="0">
                <a:solidFill>
                  <a:srgbClr val="005088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模块</a:t>
            </a:r>
          </a:p>
          <a:p>
            <a:pPr lvl="0">
              <a:buSzPts val="1100"/>
              <a:defRPr/>
            </a:pPr>
            <a:endParaRPr lang="zh-CN" altLang="zh-CN" sz="1350" dirty="0"/>
          </a:p>
          <a:p>
            <a:pPr>
              <a:lnSpc>
                <a:spcPct val="119968"/>
              </a:lnSpc>
            </a:pPr>
            <a:endParaRPr sz="13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Google Shape;297;p26">
            <a:extLst>
              <a:ext uri="{FF2B5EF4-FFF2-40B4-BE49-F238E27FC236}">
                <a16:creationId xmlns:a16="http://schemas.microsoft.com/office/drawing/2014/main" id="{E2E1A5AE-B18E-7EF9-B60C-ABBE792921F6}"/>
              </a:ext>
            </a:extLst>
          </p:cNvPr>
          <p:cNvSpPr/>
          <p:nvPr/>
        </p:nvSpPr>
        <p:spPr>
          <a:xfrm>
            <a:off x="298323" y="279887"/>
            <a:ext cx="57150" cy="359978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E7F65996-978F-E9E6-B3FE-C500B5582C53}"/>
              </a:ext>
            </a:extLst>
          </p:cNvPr>
          <p:cNvSpPr/>
          <p:nvPr/>
        </p:nvSpPr>
        <p:spPr>
          <a:xfrm>
            <a:off x="361723" y="811580"/>
            <a:ext cx="60350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dirty="0" err="1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解决「状态失配」问题</a:t>
            </a:r>
            <a:endParaRPr lang="en-US" sz="135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2569F6-562C-5042-0FD7-4E8F81E2607D}"/>
              </a:ext>
            </a:extLst>
          </p:cNvPr>
          <p:cNvSpPr txBox="1"/>
          <p:nvPr/>
        </p:nvSpPr>
        <p:spPr>
          <a:xfrm>
            <a:off x="326898" y="1230540"/>
            <a:ext cx="33509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记忆遗忘机制：时间衰减</a:t>
            </a:r>
            <a:r>
              <a:rPr kumimoji="1" lang="en-US" altLang="zh-CN" sz="1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kumimoji="1" lang="zh-CN" altLang="en-US" sz="1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访问加成</a:t>
            </a: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22F042F1-D5B8-8415-AF7C-6FB80E399322}"/>
              </a:ext>
            </a:extLst>
          </p:cNvPr>
          <p:cNvSpPr/>
          <p:nvPr/>
        </p:nvSpPr>
        <p:spPr>
          <a:xfrm>
            <a:off x="274320" y="1564912"/>
            <a:ext cx="8595361" cy="869678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FD8C9772-39AF-DCBD-3029-012E0801E49E}"/>
              </a:ext>
            </a:extLst>
          </p:cNvPr>
          <p:cNvSpPr/>
          <p:nvPr/>
        </p:nvSpPr>
        <p:spPr>
          <a:xfrm>
            <a:off x="342900" y="1666981"/>
            <a:ext cx="886968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strength(t) </a:t>
            </a:r>
            <a:r>
              <a:rPr lang="en-US" sz="16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</a:t>
            </a:r>
            <a:r>
              <a:rPr lang="en-US" sz="1650" b="1" dirty="0">
                <a:solidFill>
                  <a:srgbClr val="EE9B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importance · exp(−λ·Δt)</a:t>
            </a:r>
            <a:r>
              <a:rPr lang="en-US" sz="16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+  </a:t>
            </a:r>
            <a:r>
              <a:rPr lang="en-US" sz="1650" b="1" dirty="0">
                <a:solidFill>
                  <a:srgbClr val="B8DD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γ · log(1 + access_count)</a:t>
            </a:r>
            <a:endParaRPr lang="en-US" sz="165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FE728F46-A001-84F5-22D9-180B726CC2FE}"/>
              </a:ext>
            </a:extLst>
          </p:cNvPr>
          <p:cNvSpPr/>
          <p:nvPr/>
        </p:nvSpPr>
        <p:spPr>
          <a:xfrm>
            <a:off x="2606040" y="2104462"/>
            <a:ext cx="17830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b="1" dirty="0">
                <a:solidFill>
                  <a:srgbClr val="EE9B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 pitchFamily="34" charset="-120"/>
              </a:rPr>
              <a:t>自然衰减项</a:t>
            </a:r>
            <a:endParaRPr lang="en-US" sz="13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0AAA86D7-86E8-4A18-6E3B-F815B3854D16}"/>
              </a:ext>
            </a:extLst>
          </p:cNvPr>
          <p:cNvSpPr/>
          <p:nvPr/>
        </p:nvSpPr>
        <p:spPr>
          <a:xfrm>
            <a:off x="6396763" y="2103077"/>
            <a:ext cx="17830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b="1" dirty="0">
                <a:solidFill>
                  <a:srgbClr val="B8DD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 pitchFamily="34" charset="-120"/>
              </a:rPr>
              <a:t>访问加成项</a:t>
            </a:r>
            <a:endParaRPr lang="en-US" sz="13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443B59E4-11CC-6802-5F9A-FC9F16F32A39}"/>
              </a:ext>
            </a:extLst>
          </p:cNvPr>
          <p:cNvSpPr/>
          <p:nvPr/>
        </p:nvSpPr>
        <p:spPr>
          <a:xfrm>
            <a:off x="274320" y="2571749"/>
            <a:ext cx="8595360" cy="787889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2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2DCD9A7F-ABF4-7E55-FAE7-F3EF618CA561}"/>
              </a:ext>
            </a:extLst>
          </p:cNvPr>
          <p:cNvSpPr/>
          <p:nvPr/>
        </p:nvSpPr>
        <p:spPr>
          <a:xfrm>
            <a:off x="342900" y="2606040"/>
            <a:ext cx="6172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b="1" dirty="0">
                <a:solidFill>
                  <a:srgbClr val="356B7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 pitchFamily="34" charset="-120"/>
              </a:rPr>
              <a:t>关键参数</a:t>
            </a:r>
            <a:endParaRPr lang="en-US" sz="13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BC9785EF-2C23-8C5F-8825-4377C47584D9}"/>
              </a:ext>
            </a:extLst>
          </p:cNvPr>
          <p:cNvSpPr/>
          <p:nvPr/>
        </p:nvSpPr>
        <p:spPr>
          <a:xfrm>
            <a:off x="342900" y="2825496"/>
            <a:ext cx="1508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EE9B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nlo" pitchFamily="34" charset="-120"/>
              </a:rPr>
              <a:t>λ = 0.01 /天</a:t>
            </a:r>
            <a:endParaRPr 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B5AB0DC6-D495-E132-D0B0-A3C3DB657D4A}"/>
              </a:ext>
            </a:extLst>
          </p:cNvPr>
          <p:cNvSpPr/>
          <p:nvPr/>
        </p:nvSpPr>
        <p:spPr>
          <a:xfrm>
            <a:off x="342900" y="3017520"/>
            <a:ext cx="1508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B6F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 pitchFamily="34" charset="-120"/>
              </a:rPr>
              <a:t>半衰期 ≈ 69 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A6356A93-3585-2F9B-3DB7-578990F41E78}"/>
              </a:ext>
            </a:extLst>
          </p:cNvPr>
          <p:cNvSpPr/>
          <p:nvPr/>
        </p:nvSpPr>
        <p:spPr>
          <a:xfrm>
            <a:off x="1920240" y="2825496"/>
            <a:ext cx="1508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B8DD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nlo" pitchFamily="34" charset="-120"/>
              </a:rPr>
              <a:t>γ = 0.05</a:t>
            </a:r>
            <a:endParaRPr 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C38B1BC-E1ED-A0E7-0C81-D7B70F0FCE97}"/>
              </a:ext>
            </a:extLst>
          </p:cNvPr>
          <p:cNvSpPr/>
          <p:nvPr/>
        </p:nvSpPr>
        <p:spPr>
          <a:xfrm>
            <a:off x="1920240" y="3017520"/>
            <a:ext cx="1508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B6F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 pitchFamily="34" charset="-120"/>
              </a:rPr>
              <a:t>访问加成系数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2EA7719-7FB4-F00C-A246-4C4D6C7C7512}"/>
              </a:ext>
            </a:extLst>
          </p:cNvPr>
          <p:cNvSpPr/>
          <p:nvPr/>
        </p:nvSpPr>
        <p:spPr>
          <a:xfrm>
            <a:off x="3497580" y="2825496"/>
            <a:ext cx="1508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E639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nlo" pitchFamily="34" charset="-120"/>
              </a:rPr>
              <a:t>阈值 = 0.1</a:t>
            </a:r>
            <a:endParaRPr 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8F9F562-9827-17C1-D504-484498F2EDB8}"/>
              </a:ext>
            </a:extLst>
          </p:cNvPr>
          <p:cNvSpPr/>
          <p:nvPr/>
        </p:nvSpPr>
        <p:spPr>
          <a:xfrm>
            <a:off x="3497580" y="3017520"/>
            <a:ext cx="1508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B6F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 pitchFamily="34" charset="-120"/>
              </a:rPr>
              <a:t>归档触发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A0802FD-34A5-4F65-CCCC-0A07847812D5}"/>
              </a:ext>
            </a:extLst>
          </p:cNvPr>
          <p:cNvSpPr/>
          <p:nvPr/>
        </p:nvSpPr>
        <p:spPr>
          <a:xfrm>
            <a:off x="5074920" y="2825496"/>
            <a:ext cx="1508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356B7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nlo" pitchFamily="34" charset="-120"/>
              </a:rPr>
              <a:t>Δt 单位 = 天</a:t>
            </a:r>
            <a:endParaRPr 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69B82F2-AE35-FD10-2A0D-D7E3272C3FDE}"/>
              </a:ext>
            </a:extLst>
          </p:cNvPr>
          <p:cNvSpPr/>
          <p:nvPr/>
        </p:nvSpPr>
        <p:spPr>
          <a:xfrm>
            <a:off x="5074920" y="3017520"/>
            <a:ext cx="1508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B6F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 pitchFamily="34" charset="-120"/>
              </a:rPr>
              <a:t>距上次访问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4FD197B-12A0-5016-8833-76DCD966B1FB}"/>
              </a:ext>
            </a:extLst>
          </p:cNvPr>
          <p:cNvSpPr/>
          <p:nvPr/>
        </p:nvSpPr>
        <p:spPr>
          <a:xfrm>
            <a:off x="274320" y="3456754"/>
            <a:ext cx="8595360" cy="479251"/>
          </a:xfrm>
          <a:prstGeom prst="rect">
            <a:avLst/>
          </a:prstGeom>
          <a:solidFill>
            <a:srgbClr val="356B72"/>
          </a:solidFill>
          <a:ln w="12700">
            <a:solidFill>
              <a:srgbClr val="356B72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0BE607E-AAD5-6F6D-5556-67E8D18A48B6}"/>
              </a:ext>
            </a:extLst>
          </p:cNvPr>
          <p:cNvSpPr/>
          <p:nvPr/>
        </p:nvSpPr>
        <p:spPr>
          <a:xfrm>
            <a:off x="181121" y="3315517"/>
            <a:ext cx="8595360" cy="809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 pitchFamily="34" charset="-120"/>
              </a:rPr>
              <a:t>两项各自独立：时间是自然过程，访问是用户行为 —— 因果机制不同，所以用「加号」叠加</a:t>
            </a:r>
            <a:endParaRPr 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4995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544</Words>
  <Application>Microsoft Macintosh PowerPoint</Application>
  <PresentationFormat>全屏显示(16:9)</PresentationFormat>
  <Paragraphs>120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微软雅黑</vt:lpstr>
      <vt:lpstr>微软雅黑</vt:lpstr>
      <vt:lpstr>Noto Sans SC</vt:lpstr>
      <vt:lpstr>PingFang SC</vt:lpstr>
      <vt:lpstr>Arial</vt:lpstr>
      <vt:lpstr>Menlo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记忆模块设计与实现</dc:title>
  <dc:subject>PptxGenJS Presentation</dc:subject>
  <dc:creator>刘冰彦</dc:creator>
  <cp:lastModifiedBy>a2308</cp:lastModifiedBy>
  <cp:revision>2</cp:revision>
  <dcterms:created xsi:type="dcterms:W3CDTF">2026-05-14T04:54:06Z</dcterms:created>
  <dcterms:modified xsi:type="dcterms:W3CDTF">2026-05-14T08:49:56Z</dcterms:modified>
</cp:coreProperties>
</file>